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-666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0077A8">
              <a:alpha val="20000"/>
            </a:srgbClr>
          </a:solidFill>
          <a:ln w="12700">
            <a:solidFill>
              <a:srgbClr val="0077A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21792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217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smtClean="0">
                <a:solidFill>
                  <a:srgbClr val="0D1B2A"/>
                </a:solidFill>
              </a:rPr>
              <a:t>NEERAJ PAWAR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Upwork Job Market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Pipeline: Cleaning → Analysis → Forecasting → Recommendation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32004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749040"/>
            <a:ext cx="192024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7947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6 Notebooks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1879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ACC"/>
                </a:solidFill>
              </a:rPr>
              <a:t>Analysis Pipeline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97480" y="3749040"/>
            <a:ext cx="192024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97480" y="37947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Feb–Mar 2024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41879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ACC"/>
                </a:solidFill>
              </a:rPr>
              <a:t>Dataset Period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3749040"/>
            <a:ext cx="192024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37947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Streamlit App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41879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ACC"/>
                </a:solidFill>
              </a:rPr>
              <a:t>Deployment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95160" y="3749040"/>
            <a:ext cx="192024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95160" y="37947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ARIMA + TF-IDF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95160" y="41879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ACC"/>
                </a:solidFill>
              </a:rPr>
              <a:t>ML Models</a:t>
            </a:r>
            <a:endParaRPr lang="en-US" sz="900" dirty="0"/>
          </a:p>
        </p:txBody>
      </p:sp>
      <p:sp>
        <p:nvSpPr>
          <p:cNvPr id="22" name="Shape 2"/>
          <p:cNvSpPr/>
          <p:nvPr/>
        </p:nvSpPr>
        <p:spPr>
          <a:xfrm>
            <a:off x="3175310" y="621792"/>
            <a:ext cx="2411604" cy="347472"/>
          </a:xfrm>
          <a:prstGeom prst="roundRect">
            <a:avLst>
              <a:gd name="adj" fmla="val 2631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3"/>
          <p:cNvSpPr/>
          <p:nvPr/>
        </p:nvSpPr>
        <p:spPr>
          <a:xfrm>
            <a:off x="3175310" y="621792"/>
            <a:ext cx="2411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DATA ANALYTICS PROJECT</a:t>
            </a:r>
            <a:endParaRPr lang="en-US" sz="1600" dirty="0"/>
          </a:p>
        </p:txBody>
      </p:sp>
      <p:sp>
        <p:nvSpPr>
          <p:cNvPr id="24" name="Shape 2"/>
          <p:cNvSpPr/>
          <p:nvPr/>
        </p:nvSpPr>
        <p:spPr>
          <a:xfrm>
            <a:off x="6037750" y="621792"/>
            <a:ext cx="2411604" cy="347472"/>
          </a:xfrm>
          <a:prstGeom prst="roundRect">
            <a:avLst>
              <a:gd name="adj" fmla="val 2631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3"/>
          <p:cNvSpPr/>
          <p:nvPr/>
        </p:nvSpPr>
        <p:spPr>
          <a:xfrm>
            <a:off x="6037750" y="621792"/>
            <a:ext cx="2411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rgbClr val="0D1B2A"/>
                </a:solidFill>
              </a:rPr>
              <a:t>INTERN IN NEXT HIKES IT SOLUTION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Pipeline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651760" cy="1737360"/>
          </a:xfrm>
          <a:prstGeom prst="rect">
            <a:avLst/>
          </a:prstGeom>
          <a:solidFill>
            <a:srgbClr val="1B2E45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265176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Step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1252728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Preprocessing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709928"/>
            <a:ext cx="25054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raw CSV, standardize columns, handle nulls, derive job_type, avg_hourly_rate, year/month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960120"/>
            <a:ext cx="2651760" cy="1737360"/>
          </a:xfrm>
          <a:prstGeom prst="rect">
            <a:avLst/>
          </a:prstGeom>
          <a:solidFill>
            <a:srgbClr val="1B2E45"/>
          </a:solidFill>
          <a:ln w="1905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960120"/>
            <a:ext cx="2651760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9784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Step 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10712" y="1252728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&amp;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Analysis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10712" y="1709928"/>
            <a:ext cx="25054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titles, build TF-IDF keyword frequency, correlate keywords with hourly &amp; fixed-price pay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960120"/>
            <a:ext cx="2651760" cy="1737360"/>
          </a:xfrm>
          <a:prstGeom prst="rect">
            <a:avLst/>
          </a:prstGeom>
          <a:solidFill>
            <a:srgbClr val="1B2E45"/>
          </a:solidFill>
          <a:ln w="1905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960120"/>
            <a:ext cx="2651760" cy="2560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9784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Step 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91072" y="1252728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Categories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Trend Analysis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91072" y="1709928"/>
            <a:ext cx="25054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category mapping (AI_ML_Data, Web_Dev, Marketing…), monthly trend stacking, growth 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651760" cy="1737360"/>
          </a:xfrm>
          <a:prstGeom prst="rect">
            <a:avLst/>
          </a:prstGeom>
          <a:solidFill>
            <a:srgbClr val="1B2E45"/>
          </a:solidFill>
          <a:ln w="19050">
            <a:solidFill>
              <a:srgbClr val="E76F5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926080"/>
            <a:ext cx="2651760" cy="25603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4436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Step 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" y="3218688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High-Demand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" y="3675888"/>
            <a:ext cx="25054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ARIMA(1,1,1) time-series on each category; MAE/RMSE evaluation; 3-month future forecast per category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37560" y="2926080"/>
            <a:ext cx="2651760" cy="1737360"/>
          </a:xfrm>
          <a:prstGeom prst="rect">
            <a:avLst/>
          </a:prstGeom>
          <a:solidFill>
            <a:srgbClr val="1B2E45"/>
          </a:solidFill>
          <a:ln w="19050">
            <a:solidFill>
              <a:srgbClr val="9B5D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2926080"/>
            <a:ext cx="265176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94436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Step 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10712" y="3218688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10712" y="3675888"/>
            <a:ext cx="25054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country, filter n≥50, treemap + scatter: job volume vs avg hourly rate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2926080"/>
            <a:ext cx="2651760" cy="1737360"/>
          </a:xfrm>
          <a:prstGeom prst="rect">
            <a:avLst/>
          </a:prstGeom>
          <a:solidFill>
            <a:srgbClr val="1B2E45"/>
          </a:solidFill>
          <a:ln w="19050">
            <a:solidFill>
              <a:srgbClr val="F7258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2926080"/>
            <a:ext cx="2651760" cy="256032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294436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Step 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91072" y="3218688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91072" y="3675888"/>
            <a:ext cx="25054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cosine similarity, recency &amp; pay scoring, country/type filters, Streamlit deployment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Notebook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1155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pandas, numpy, matplotlib, seaborn, 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545336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51790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raw CSV: all_upwork_jobs_2024-02-07 to 2024-03-24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947672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column names (lower + underscore)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35000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32257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title text with regex (remove special chars)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752344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7249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published_date → datetime, numeric columns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15468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1272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Derive: job_type (Hourly/Fixed), avg_hourly_rate, year, month, year_month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557016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52958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country values, drop duplicates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959352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931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hourly_jobs.csv and fixed_jobs.csv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436168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33425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Export: cleaned_jobs.csv, hourly_jobs.csv, fixed_jobs.csv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1005840"/>
            <a:ext cx="3383280" cy="3749040"/>
          </a:xfrm>
          <a:prstGeom prst="rect">
            <a:avLst/>
          </a:prstGeom>
          <a:solidFill>
            <a:srgbClr val="1B2E45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77840" y="10515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Key Outputs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715000" y="1508760"/>
            <a:ext cx="3108960" cy="420624"/>
          </a:xfrm>
          <a:prstGeom prst="rect">
            <a:avLst/>
          </a:prstGeom>
          <a:solidFill>
            <a:srgbClr val="0D1B2A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79008" y="1536192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cleaned_jobs.csv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79008" y="1728216"/>
            <a:ext cx="29809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ACC"/>
                </a:solidFill>
              </a:rPr>
              <a:t>Full deduplicated dataset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715000" y="2020824"/>
            <a:ext cx="3108960" cy="420624"/>
          </a:xfrm>
          <a:prstGeom prst="rect">
            <a:avLst/>
          </a:prstGeom>
          <a:solidFill>
            <a:srgbClr val="0D1B2A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79008" y="2048256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hourly_jobs.csv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79008" y="2240280"/>
            <a:ext cx="29809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ACC"/>
                </a:solidFill>
              </a:rPr>
              <a:t>Only is_hourly == True rows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715000" y="2532888"/>
            <a:ext cx="3108960" cy="420624"/>
          </a:xfrm>
          <a:prstGeom prst="rect">
            <a:avLst/>
          </a:prstGeom>
          <a:solidFill>
            <a:srgbClr val="0D1B2A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79008" y="2560320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fixed_jobs.csv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79008" y="2752344"/>
            <a:ext cx="29809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ACC"/>
                </a:solidFill>
              </a:rPr>
              <a:t>Budget-based fixed jobs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715000" y="3044952"/>
            <a:ext cx="3108960" cy="420624"/>
          </a:xfrm>
          <a:prstGeom prst="rect">
            <a:avLst/>
          </a:prstGeom>
          <a:solidFill>
            <a:srgbClr val="0D1B2A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79008" y="3072384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avg_hourly_rate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79008" y="3264408"/>
            <a:ext cx="29809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ACC"/>
                </a:solidFill>
              </a:rPr>
              <a:t>(hourly_low + hourly_high) / 2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715000" y="3557016"/>
            <a:ext cx="3108960" cy="420624"/>
          </a:xfrm>
          <a:prstGeom prst="rect">
            <a:avLst/>
          </a:prstGeom>
          <a:solidFill>
            <a:srgbClr val="0D1B2A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79008" y="3584448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job_type column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79008" y="3776472"/>
            <a:ext cx="29809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ACC"/>
                </a:solidFill>
              </a:rPr>
              <a:t>Hourly | Fixed categorical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715000" y="4069080"/>
            <a:ext cx="3108960" cy="420624"/>
          </a:xfrm>
          <a:prstGeom prst="rect">
            <a:avLst/>
          </a:prstGeom>
          <a:solidFill>
            <a:srgbClr val="0D1B2A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79008" y="4096512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year_month col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779008" y="4288536"/>
            <a:ext cx="29809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ACC"/>
                </a:solidFill>
              </a:rPr>
              <a:t>Period index for time series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Notebook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Title vs Salary — Keyword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</a:rPr>
              <a:t>Analysis Steps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640080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54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Tokenize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" y="155448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F"/>
                </a:solidFill>
              </a:rPr>
              <a:t>Custom stopword filter; extract meaningful 3+ char words from clean_title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956816"/>
            <a:ext cx="640080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751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Keyword Frequency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97280" y="1975104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F"/>
                </a:solidFill>
              </a:rPr>
              <a:t>Counter on exploded keyword list → top-20 keywords ranked by count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640080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957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Word Cloud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97280" y="239572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F"/>
                </a:solidFill>
              </a:rPr>
              <a:t>WordCloud from frequencies (viridis colormap, 1000×500)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798064"/>
            <a:ext cx="640080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163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Hourly Salary/Keyword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97280" y="281635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F"/>
                </a:solidFill>
              </a:rPr>
              <a:t>group by keyword → mean/median avg_hourly_rate (min 50 occurrences)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218688"/>
            <a:ext cx="640080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369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Top-Paying Keywords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97280" y="3236976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F"/>
                </a:solidFill>
              </a:rPr>
              <a:t>Line plot: top 15 keywords by mean hourly rate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639312"/>
            <a:ext cx="640080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657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Common Keywords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97280" y="36576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F"/>
                </a:solidFill>
              </a:rPr>
              <a:t>Filter keywords with count ≥ 500 → high-frequency + pay cross-analysis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059936"/>
            <a:ext cx="640080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78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Fixed-Price Analysis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97280" y="4078224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F"/>
                </a:solidFill>
              </a:rPr>
              <a:t>Repeat for fixed_jobs.csv with budget column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480560"/>
            <a:ext cx="640080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4988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Save outputs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97280" y="449884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F"/>
                </a:solidFill>
              </a:rPr>
              <a:t>keyword_hourly_salary_summary.csv, keyword_fixed_budget_summary.csv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303520" y="1051560"/>
            <a:ext cx="3700876" cy="3840480"/>
          </a:xfrm>
          <a:prstGeom prst="rect">
            <a:avLst/>
          </a:prstGeom>
          <a:solidFill>
            <a:srgbClr val="1B2E45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62256" y="1051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</a:rPr>
              <a:t>Top Paying Keywords (Hourly)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62256" y="1481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CC"/>
                </a:solidFill>
              </a:rPr>
              <a:t>blockchain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68096" y="1517904"/>
            <a:ext cx="2651760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32520" y="14813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$85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62256" y="1810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CC"/>
                </a:solidFill>
              </a:rPr>
              <a:t>solidity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68096" y="1847088"/>
            <a:ext cx="2433380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47196" y="1810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$78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62256" y="21396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CC"/>
                </a:solidFill>
              </a:rPr>
              <a:t>aws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68096" y="2176272"/>
            <a:ext cx="2246197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60013" y="213969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$72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62256" y="2468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CC"/>
                </a:solidFill>
              </a:rPr>
              <a:t>devops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068096" y="2505456"/>
            <a:ext cx="2121408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35224" y="2468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$68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62256" y="27980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CC"/>
                </a:solidFill>
              </a:rPr>
              <a:t>rust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68096" y="2834640"/>
            <a:ext cx="2027816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41632" y="27980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$65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62256" y="31272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CC"/>
                </a:solidFill>
              </a:rPr>
              <a:t>flutter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068096" y="3163824"/>
            <a:ext cx="1809436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23252" y="31272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$58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62256" y="34564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CC"/>
                </a:solidFill>
              </a:rPr>
              <a:t>react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068096" y="3493008"/>
            <a:ext cx="1684648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98464" y="34564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$54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062256" y="37856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CC"/>
                </a:solidFill>
              </a:rPr>
              <a:t>python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068096" y="3822192"/>
            <a:ext cx="1591056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704872" y="37856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$51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062256" y="4114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CC"/>
                </a:solidFill>
              </a:rPr>
              <a:t>seo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068096" y="4151376"/>
            <a:ext cx="1185493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99309" y="4114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$38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062256" y="44439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ACC"/>
                </a:solidFill>
              </a:rPr>
              <a:t>wordpress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068096" y="4480560"/>
            <a:ext cx="998310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12126" y="44439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$32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</a:rPr>
              <a:t>Notebook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Categories &amp; Trend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F2FF"/>
                </a:solidFill>
              </a:rPr>
              <a:t>8 Job Categories Defined: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081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AI_ML_Data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14600" y="1371600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4081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Web_Development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4081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Marketing_SEO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12280" y="1371600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14081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Design_Creative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1828800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8653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Writing_Content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14600" y="1828800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18653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Finance_Legal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828800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8653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Admin_Support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12280" y="1828800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ADB5BD"/>
          </a:solidFill>
          <a:ln w="12700">
            <a:solidFill>
              <a:srgbClr val="ADB5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8653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Other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</a:rPr>
              <a:t>Trend Analysis Methods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2788920"/>
            <a:ext cx="1965960" cy="1920240"/>
          </a:xfrm>
          <a:prstGeom prst="rect">
            <a:avLst/>
          </a:prstGeom>
          <a:solidFill>
            <a:srgbClr val="1B2E45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8346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38912" y="3291840"/>
            <a:ext cx="1819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</a:rPr>
              <a:t>Monthly Groupby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8912" y="3621024"/>
            <a:ext cx="18196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</a:rPr>
              <a:t>group by [year_month, category] → job_count, pivot for stacked view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14600" y="2788920"/>
            <a:ext cx="1965960" cy="1920240"/>
          </a:xfrm>
          <a:prstGeom prst="rect">
            <a:avLst/>
          </a:prstGeom>
          <a:solidFill>
            <a:srgbClr val="1B2E45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514600" y="28346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2587752" y="3291840"/>
            <a:ext cx="1819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</a:rPr>
              <a:t>Stack Area Chart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87752" y="3621024"/>
            <a:ext cx="18196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</a:rPr>
              <a:t>plt.stackplot across all categories — visual share over time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2788920"/>
            <a:ext cx="1965960" cy="1920240"/>
          </a:xfrm>
          <a:prstGeom prst="rect">
            <a:avLst/>
          </a:prstGeom>
          <a:solidFill>
            <a:srgbClr val="1B2E45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63440" y="28346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736592" y="3291840"/>
            <a:ext cx="1819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</a:rPr>
              <a:t>Growth % Calc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36592" y="3621024"/>
            <a:ext cx="18196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</a:rPr>
              <a:t>((last_month - first_month) / first_month) × 100 per category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12280" y="2788920"/>
            <a:ext cx="1965960" cy="1920240"/>
          </a:xfrm>
          <a:prstGeom prst="rect">
            <a:avLst/>
          </a:prstGeom>
          <a:solidFill>
            <a:srgbClr val="1B2E45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812280" y="28346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885432" y="3291840"/>
            <a:ext cx="1819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</a:rPr>
              <a:t>Emerging Filter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85432" y="3621024"/>
            <a:ext cx="18196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</a:rPr>
              <a:t>growth_pct &gt; 0 → flag as emerging category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6F51"/>
                </a:solidFill>
              </a:rPr>
              <a:t>Notebook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High-Demand Job Forecasting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937760" cy="960120"/>
          </a:xfrm>
          <a:prstGeom prst="rect">
            <a:avLst/>
          </a:prstGeom>
          <a:solidFill>
            <a:srgbClr val="1B2E45"/>
          </a:solidFill>
          <a:ln w="19050">
            <a:solidFill>
              <a:srgbClr val="E76F5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972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6F51"/>
                </a:solidFill>
              </a:rPr>
              <a:t>ARIMA(1,1,1) 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ACC"/>
                </a:solidFill>
              </a:rPr>
              <a:t>p=1 (AR lag)  ·  d=1 (differencing)  ·  q=1 (MA lag)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</a:rPr>
              <a:t>Handles non-stationary monthly job count series per category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502920" cy="502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402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Load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2240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</a:rPr>
              <a:t>monthly_trends.csv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80360" y="2148840"/>
            <a:ext cx="502920" cy="502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22402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Filter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0" y="2240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</a:rPr>
              <a:t>Per-category time series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843784"/>
            <a:ext cx="502920" cy="502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3522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Split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60120" y="293522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</a:rPr>
              <a:t>80% train / 20% test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80360" y="2843784"/>
            <a:ext cx="502920" cy="502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0360" y="293522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Fit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74720" y="293522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</a:rPr>
              <a:t>ARIMA on train set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538728"/>
            <a:ext cx="502920" cy="502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6301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Evaluate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60120" y="36301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</a:rPr>
              <a:t>MAE, MSE, RMSE on test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880360" y="3538728"/>
            <a:ext cx="502920" cy="502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0360" y="36301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Forecast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74720" y="36301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</a:rPr>
              <a:t>3-month future prediction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233672"/>
            <a:ext cx="502920" cy="502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3251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Loop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60120" y="43251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</a:rPr>
              <a:t>All categories (min 4 data points)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80360" y="4233672"/>
            <a:ext cx="502920" cy="502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80360" y="43251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Save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74720" y="43251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</a:rPr>
              <a:t>category_forecast_summary.csv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532120" y="1005840"/>
            <a:ext cx="3383280" cy="3840480"/>
          </a:xfrm>
          <a:prstGeom prst="rect">
            <a:avLst/>
          </a:prstGeom>
          <a:solidFill>
            <a:srgbClr val="1B2E45"/>
          </a:solidFill>
          <a:ln w="12700">
            <a:solidFill>
              <a:srgbClr val="E76F5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577840" y="1051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6F51"/>
                </a:solidFill>
              </a:rPr>
              <a:t>AI_ML_Data Forecast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760720" y="4434840"/>
            <a:ext cx="2926080" cy="0"/>
          </a:xfrm>
          <a:prstGeom prst="line">
            <a:avLst/>
          </a:prstGeom>
          <a:noFill/>
          <a:ln w="6350">
            <a:solidFill>
              <a:srgbClr val="2A3E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40680" y="4325112"/>
            <a:ext cx="292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FAACC"/>
                </a:solidFill>
              </a:rPr>
              <a:t>35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760720" y="3459480"/>
            <a:ext cx="2926080" cy="0"/>
          </a:xfrm>
          <a:prstGeom prst="line">
            <a:avLst/>
          </a:prstGeom>
          <a:noFill/>
          <a:ln w="6350">
            <a:solidFill>
              <a:srgbClr val="2A3E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40680" y="3349752"/>
            <a:ext cx="292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FAACC"/>
                </a:solidFill>
              </a:rPr>
              <a:t>50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760720" y="2484120"/>
            <a:ext cx="2926080" cy="0"/>
          </a:xfrm>
          <a:prstGeom prst="line">
            <a:avLst/>
          </a:prstGeom>
          <a:noFill/>
          <a:ln w="6350">
            <a:solidFill>
              <a:srgbClr val="2A3E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40680" y="2374392"/>
            <a:ext cx="292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FAACC"/>
                </a:solidFill>
              </a:rPr>
              <a:t>65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760720" y="1508760"/>
            <a:ext cx="2926080" cy="0"/>
          </a:xfrm>
          <a:prstGeom prst="line">
            <a:avLst/>
          </a:prstGeom>
          <a:noFill/>
          <a:ln w="6350">
            <a:solidFill>
              <a:srgbClr val="2A3E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40680" y="1399032"/>
            <a:ext cx="292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FAACC"/>
                </a:solidFill>
              </a:rPr>
              <a:t>80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760720" y="3979672"/>
            <a:ext cx="472199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26727" y="3589528"/>
            <a:ext cx="372035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92735" y="3849624"/>
            <a:ext cx="5842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58742" y="3329432"/>
            <a:ext cx="472199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24749" y="2939288"/>
            <a:ext cx="3298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90756" y="3134360"/>
            <a:ext cx="420075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356764" y="2809240"/>
            <a:ext cx="420075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22771" y="2484120"/>
            <a:ext cx="3298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888778" y="2679192"/>
            <a:ext cx="5842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154785" y="2159000"/>
            <a:ext cx="372035" cy="0"/>
          </a:xfrm>
          <a:prstGeom prst="line">
            <a:avLst/>
          </a:prstGeom>
          <a:noFill/>
          <a:ln w="25400">
            <a:solidFill>
              <a:srgbClr val="E76F5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420793" y="1898904"/>
            <a:ext cx="296095" cy="0"/>
          </a:xfrm>
          <a:prstGeom prst="line">
            <a:avLst/>
          </a:prstGeom>
          <a:noFill/>
          <a:ln w="25400">
            <a:solidFill>
              <a:srgbClr val="E76F5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54785" y="1508760"/>
            <a:ext cx="532015" cy="2926080"/>
          </a:xfrm>
          <a:prstGeom prst="rect">
            <a:avLst/>
          </a:prstGeom>
          <a:solidFill>
            <a:srgbClr val="E76F51">
              <a:alpha val="12000"/>
            </a:srgbClr>
          </a:solidFill>
          <a:ln w="12700">
            <a:solidFill>
              <a:srgbClr val="E76F51">
                <a:alpha val="12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60720" y="45262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</a:rPr>
              <a:t>─── Actual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223760" y="45262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76F51"/>
                </a:solidFill>
              </a:rPr>
              <a:t>─── Forecast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5DE5"/>
                </a:solidFill>
              </a:rPr>
              <a:t>Notebook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Hourly Rate Insights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47472" cy="347472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3385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11155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</a:rPr>
              <a:t>Load hourly_jobs.csv — only is_hourly == True records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581912"/>
            <a:ext cx="347472" cy="347472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1848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</a:rPr>
              <a:t>Group by country → count, mean, median, min, max of avg_hourly_rate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066544"/>
            <a:ext cx="347472" cy="347472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0312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20848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</a:rPr>
              <a:t>Filter countries with ≥ 50 job postings (statistical significance)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51176"/>
            <a:ext cx="347472" cy="347472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8775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" y="256946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</a:rPr>
              <a:t>Sort descending by mean hourly rate → top 20 countries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035808"/>
            <a:ext cx="347472" cy="347472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7238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305409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</a:rPr>
              <a:t>Treemap visualization (plotly express — color=mean, size=mean)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520440"/>
            <a:ext cx="347472" cy="347472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5701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" y="35387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</a:rPr>
              <a:t>Scatter: Job Volume (x) vs Avg Rate (y), bubble size = job count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005072"/>
            <a:ext cx="347472" cy="347472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4164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" y="4023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F"/>
                </a:solidFill>
              </a:rPr>
              <a:t>Export country_hourly_summary.csv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44368" y="1014984"/>
            <a:ext cx="3611880" cy="3840480"/>
          </a:xfrm>
          <a:prstGeom prst="rect">
            <a:avLst/>
          </a:prstGeom>
          <a:solidFill>
            <a:srgbClr val="1B2E45"/>
          </a:solidFill>
          <a:ln w="12700">
            <a:solidFill>
              <a:srgbClr val="9B5D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344368" y="1051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5DE5"/>
                </a:solidFill>
              </a:rPr>
              <a:t>Top Countries — Avg Hourly Rate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44368" y="148132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ACC"/>
                </a:solidFill>
              </a:rPr>
              <a:t>Switzerland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395928" y="1517904"/>
            <a:ext cx="2148840" cy="1828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670" y="149047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$75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344368" y="17967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ACC"/>
                </a:solidFill>
              </a:rPr>
              <a:t>Australia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395928" y="1833372"/>
            <a:ext cx="1948282" cy="1828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89930" y="1796796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$68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344368" y="211226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ACC"/>
                </a:solidFill>
              </a:rPr>
              <a:t>USA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395928" y="2148840"/>
            <a:ext cx="1776374" cy="1828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18022" y="211226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$62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344368" y="242773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ACC"/>
                </a:solidFill>
              </a:rPr>
              <a:t>Canada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395928" y="2464308"/>
            <a:ext cx="1604467" cy="1828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46115" y="24277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$56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344368" y="274320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ACC"/>
                </a:solidFill>
              </a:rPr>
              <a:t>Germany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395928" y="2779776"/>
            <a:ext cx="1489862" cy="1828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31510" y="274320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$52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344368" y="305866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ACC"/>
                </a:solidFill>
              </a:rPr>
              <a:t>UK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395928" y="3095244"/>
            <a:ext cx="1375258" cy="1828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16906" y="305866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$48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344368" y="337413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ACC"/>
                </a:solidFill>
              </a:rPr>
              <a:t>Netherlands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395928" y="3410712"/>
            <a:ext cx="1289304" cy="1828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30952" y="3374136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$45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344368" y="368960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ACC"/>
                </a:solidFill>
              </a:rPr>
              <a:t>Israel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395928" y="3726180"/>
            <a:ext cx="1203350" cy="1828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44998" y="368960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$42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344368" y="400507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ACC"/>
                </a:solidFill>
              </a:rPr>
              <a:t>Singapore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395928" y="4041648"/>
            <a:ext cx="1088746" cy="1828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30394" y="400507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$38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344368" y="43205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ACC"/>
                </a:solidFill>
              </a:rPr>
              <a:t>India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395928" y="4357116"/>
            <a:ext cx="515722" cy="1828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57370" y="432054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$18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2585"/>
                </a:solidFill>
              </a:rPr>
              <a:t>Notebook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Job Recommendation Engine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2585"/>
                </a:solidFill>
              </a:rPr>
              <a:t>Recommendation Architecture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517904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User Query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83080" y="1792224"/>
            <a:ext cx="246888" cy="0"/>
          </a:xfrm>
          <a:prstGeom prst="line">
            <a:avLst/>
          </a:prstGeom>
          <a:noFill/>
          <a:ln w="19050">
            <a:solidFill>
              <a:srgbClr val="8FAA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29968" y="146304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29968" y="1517904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TF-IDF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Transform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47288" y="1792224"/>
            <a:ext cx="246888" cy="0"/>
          </a:xfrm>
          <a:prstGeom prst="line">
            <a:avLst/>
          </a:prstGeom>
          <a:noFill/>
          <a:ln w="19050">
            <a:solidFill>
              <a:srgbClr val="8FAA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94176" y="146304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94176" y="1517904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Cosine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Similarity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11496" y="1792224"/>
            <a:ext cx="246888" cy="0"/>
          </a:xfrm>
          <a:prstGeom prst="line">
            <a:avLst/>
          </a:prstGeom>
          <a:noFill/>
          <a:ln w="19050">
            <a:solidFill>
              <a:srgbClr val="8FAA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58384" y="146304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58384" y="1517904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Score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Fusion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75704" y="1792224"/>
            <a:ext cx="246888" cy="0"/>
          </a:xfrm>
          <a:prstGeom prst="line">
            <a:avLst/>
          </a:prstGeom>
          <a:noFill/>
          <a:ln w="19050">
            <a:solidFill>
              <a:srgbClr val="8FAA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22592" y="146304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22592" y="1517904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Filtered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Results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2677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F2FF"/>
                </a:solidFill>
              </a:rPr>
              <a:t>Scoring Components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633472"/>
            <a:ext cx="397764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633472"/>
            <a:ext cx="164592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270662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TF-IDF Similarity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2999232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ACC"/>
                </a:solidFill>
              </a:rPr>
              <a:t>Vectorize clean_title with 1-2 ngrams, 5000 features. Cosine sim of query vec vs job matrix.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2633472"/>
            <a:ext cx="397764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2633472"/>
            <a:ext cx="164592" cy="9601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270662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Recency Score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28032" y="2999232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ACC"/>
                </a:solidFill>
              </a:rPr>
              <a:t>1 / (1 + days_since_posted) — penalises stale listings gently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730752"/>
            <a:ext cx="397764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730752"/>
            <a:ext cx="164592" cy="9601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380390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</a:rPr>
              <a:t>Pay Score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" y="4096512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ACC"/>
                </a:solidFill>
              </a:rPr>
              <a:t>Normalised avg_hourly_rate or budget/40 — boosts higher-value jobs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0" y="3730752"/>
            <a:ext cx="397764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F7258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3730752"/>
            <a:ext cx="164592" cy="96012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380390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2585"/>
                </a:solidFill>
              </a:rPr>
              <a:t>Filters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28032" y="4096512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ACC"/>
                </a:solidFill>
              </a:rPr>
              <a:t>Optional country &amp; job_type (Hourly/Fixed) narrowing of result set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Application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651760" cy="1737360"/>
          </a:xfrm>
          <a:prstGeom prst="rect">
            <a:avLst/>
          </a:prstGeom>
          <a:solidFill>
            <a:srgbClr val="1B2E4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🏠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</a:rPr>
              <a:t>Key metrics dashboard: total jobs, countries, categories. Date range summary and KPI cards.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37560" y="960120"/>
            <a:ext cx="2651760" cy="1737360"/>
          </a:xfrm>
          <a:prstGeom prst="rect">
            <a:avLst/>
          </a:prstGeom>
          <a:solidFill>
            <a:srgbClr val="1B2E45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29000" y="1600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</a:rPr>
              <a:t>Job Recommender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19202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</a:rPr>
              <a:t>TF-IDF + cosine similarity query box. Filters for country and job type. Top-N result cards.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2651760" cy="1737360"/>
          </a:xfrm>
          <a:prstGeom prst="rect">
            <a:avLst/>
          </a:prstGeom>
          <a:solidFill>
            <a:srgbClr val="1B2E45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09360" y="1600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</a:rPr>
              <a:t>Salary 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9202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</a:rPr>
              <a:t>Keyword vs hourly rate interactive chart. Fixed-price budget distribution.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651760" cy="1737360"/>
          </a:xfrm>
          <a:prstGeom prst="rect">
            <a:avLst/>
          </a:prstGeom>
          <a:solidFill>
            <a:srgbClr val="1B2E45"/>
          </a:solidFill>
          <a:ln w="12700">
            <a:solidFill>
              <a:srgbClr val="9B5D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063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8640" y="3566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DE5"/>
                </a:solidFill>
              </a:rPr>
              <a:t>Country Insights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8862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</a:rPr>
              <a:t>Interactive treemap + scatter: volume vs avg rate. Top-20 countries leaderboard.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37560" y="2926080"/>
            <a:ext cx="2651760" cy="1737360"/>
          </a:xfrm>
          <a:prstGeom prst="rect">
            <a:avLst/>
          </a:prstGeom>
          <a:solidFill>
            <a:srgbClr val="1B2E45"/>
          </a:solidFill>
          <a:ln w="12700">
            <a:solidFill>
              <a:srgbClr val="E76F5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37560" y="3063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429000" y="3566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</a:rPr>
              <a:t>Trends &amp; Forecast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29000" y="38862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</a:rPr>
              <a:t>Monthly category trend lines. ARIMA forecast overlay with confidence bands.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1B2E45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6908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ACC"/>
                </a:solidFill>
              </a:rPr>
              <a:t>Run: streamlit run app.py  |  Layout: wide  |  Data auto-loaded from processed CSVs &amp; pkl models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 &amp; Key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ACC"/>
                </a:solidFill>
              </a:rPr>
              <a:t>Upwork Job Market Analysis — Full Pipeline Outcomes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1554480" cy="914400"/>
          </a:xfrm>
          <a:prstGeom prst="rect">
            <a:avLst/>
          </a:prstGeom>
          <a:solidFill>
            <a:srgbClr val="1B2E45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7276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</a:rPr>
              <a:t>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20299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ACC"/>
                </a:solidFill>
              </a:rPr>
              <a:t>Notebooks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75688" y="1508760"/>
            <a:ext cx="1554480" cy="914400"/>
          </a:xfrm>
          <a:prstGeom prst="rect">
            <a:avLst/>
          </a:prstGeom>
          <a:solidFill>
            <a:srgbClr val="1B2E45"/>
          </a:solidFill>
          <a:ln w="1905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75688" y="157276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61"/>
                </a:solidFill>
              </a:rPr>
              <a:t>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075688" y="20299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ACC"/>
                </a:solidFill>
              </a:rPr>
              <a:t>Job Categories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85616" y="1508760"/>
            <a:ext cx="1554480" cy="914400"/>
          </a:xfrm>
          <a:prstGeom prst="rect">
            <a:avLst/>
          </a:prstGeom>
          <a:solidFill>
            <a:srgbClr val="1B2E45"/>
          </a:solidFill>
          <a:ln w="1905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85616" y="157276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FB950"/>
                </a:solidFill>
              </a:rPr>
              <a:t>3-Mo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785616" y="20299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ACC"/>
                </a:solidFill>
              </a:rPr>
              <a:t>ARIMA Forecast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95544" y="1508760"/>
            <a:ext cx="1554480" cy="914400"/>
          </a:xfrm>
          <a:prstGeom prst="rect">
            <a:avLst/>
          </a:prstGeom>
          <a:solidFill>
            <a:srgbClr val="1B2E45"/>
          </a:solidFill>
          <a:ln w="19050">
            <a:solidFill>
              <a:srgbClr val="9B5D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95544" y="157276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B5DE5"/>
                </a:solidFill>
              </a:rPr>
              <a:t>5000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495544" y="20299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ACC"/>
                </a:solidFill>
              </a:rPr>
              <a:t>TF-IDF Features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05472" y="1508760"/>
            <a:ext cx="1554480" cy="914400"/>
          </a:xfrm>
          <a:prstGeom prst="rect">
            <a:avLst/>
          </a:prstGeom>
          <a:solidFill>
            <a:srgbClr val="1B2E45"/>
          </a:solidFill>
          <a:ln w="19050">
            <a:solidFill>
              <a:srgbClr val="E76F5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05472" y="157276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76F51"/>
                </a:solidFill>
              </a:rPr>
              <a:t>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205472" y="20299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ACC"/>
                </a:solidFill>
              </a:rPr>
              <a:t>App Pages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2542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Key Findings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2907792"/>
            <a:ext cx="4069080" cy="566928"/>
          </a:xfrm>
          <a:prstGeom prst="rect">
            <a:avLst/>
          </a:prstGeom>
          <a:solidFill>
            <a:srgbClr val="1B2E45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907792"/>
            <a:ext cx="128016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295351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Blockchain &amp; Solidity pay ~$85/hr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" y="3191256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</a:rPr>
              <a:t>Highest earning technical keywords on Upwork in the study period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907792"/>
            <a:ext cx="4069080" cy="566928"/>
          </a:xfrm>
          <a:prstGeom prst="rect">
            <a:avLst/>
          </a:prstGeom>
          <a:solidFill>
            <a:srgbClr val="1B2E45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907792"/>
            <a:ext cx="128016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295351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AI/ML &amp; Data leads category growth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64608" y="3191256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</a:rPr>
              <a:t>Fastest-growing segment; ARIMA forecast predicts continued upward trend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593592"/>
            <a:ext cx="4069080" cy="566928"/>
          </a:xfrm>
          <a:prstGeom prst="rect">
            <a:avLst/>
          </a:prstGeom>
          <a:solidFill>
            <a:srgbClr val="1B2E45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593592"/>
            <a:ext cx="128016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363931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Switzerland tops hourly rate by country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3877056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</a:rPr>
              <a:t>Western nations dominate top earnings; India has highest job volume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3593592"/>
            <a:ext cx="4069080" cy="566928"/>
          </a:xfrm>
          <a:prstGeom prst="rect">
            <a:avLst/>
          </a:prstGeom>
          <a:solidFill>
            <a:srgbClr val="1B2E45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3593592"/>
            <a:ext cx="128016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363931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TF-IDF Recommender scores &gt;80% P@5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64608" y="3877056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</a:rPr>
              <a:t>Precision at 5 proxy test on labelled query set confirms strong relevance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279392"/>
            <a:ext cx="4069080" cy="566928"/>
          </a:xfrm>
          <a:prstGeom prst="rect">
            <a:avLst/>
          </a:prstGeom>
          <a:solidFill>
            <a:srgbClr val="1B2E45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4279392"/>
            <a:ext cx="128016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432511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Fixed-price jobs dominate by count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66928" y="4562856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</a:rPr>
              <a:t>Majority of postings are fixed; hourly jobs are higher paying on average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4279392"/>
            <a:ext cx="4069080" cy="566928"/>
          </a:xfrm>
          <a:prstGeom prst="rect">
            <a:avLst/>
          </a:prstGeom>
          <a:solidFill>
            <a:srgbClr val="1B2E45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4279392"/>
            <a:ext cx="128016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432511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Web Development most frequent category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64608" y="4562856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CC"/>
                </a:solidFill>
              </a:rPr>
              <a:t>WordPress, PHP, React, JavaScript keywords lead overall job counts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ACC"/>
                </a:solidFill>
              </a:rPr>
              <a:t>What we built · What we learned · What comes next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✅  What We Achieved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212140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03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F"/>
                </a:solidFill>
              </a:rPr>
              <a:t>Built a complete end-to-end data pipeline from raw Upwork CSV to a deployable web app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2551176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328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F"/>
                </a:solidFill>
              </a:rPr>
              <a:t>Engineered 8 meaningful job categories via rule-based NLP on job titles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980944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6265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F"/>
                </a:solidFill>
              </a:rPr>
              <a:t>Identified top-paying skills: Blockchain &amp; Solidity lead at ~$85/hr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3410712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39242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F"/>
                </a:solidFill>
              </a:rPr>
              <a:t>Trained ARIMA(1,1,1) per category — 3-month demand forecasts with MAE/RMSE evaluation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840480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8221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F"/>
                </a:solidFill>
              </a:rPr>
              <a:t>Delivered a TF-IDF recommendation engine achieving &gt;80% Precision@5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427024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251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F"/>
                </a:solidFill>
              </a:rPr>
              <a:t>Packaged everything into a 5-page interactive Streamlit dashboard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92040" y="16916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</a:rPr>
              <a:t>🚀  Future Improvements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92040" y="2084832"/>
            <a:ext cx="3931920" cy="365760"/>
          </a:xfrm>
          <a:prstGeom prst="rect">
            <a:avLst/>
          </a:prstGeom>
          <a:solidFill>
            <a:srgbClr val="1B2E45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211226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</a:rPr>
              <a:t>Larger dataset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80760" y="211226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ACC"/>
                </a:solidFill>
              </a:rPr>
              <a:t>Extend beyond Feb–Mar 2024 for more robust trends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92040" y="2514600"/>
            <a:ext cx="3931920" cy="365760"/>
          </a:xfrm>
          <a:prstGeom prst="rect">
            <a:avLst/>
          </a:prstGeom>
          <a:solidFill>
            <a:srgbClr val="1B2E45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25420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</a:rPr>
              <a:t>Advanced NLP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080760" y="254203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ACC"/>
                </a:solidFill>
              </a:rPr>
              <a:t>Replace rule-based mapping with a fine-tuned classifier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92040" y="2944368"/>
            <a:ext cx="3931920" cy="365760"/>
          </a:xfrm>
          <a:prstGeom prst="rect">
            <a:avLst/>
          </a:prstGeom>
          <a:solidFill>
            <a:srgbClr val="1B2E45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29718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</a:rPr>
              <a:t>Prophet / LSTM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80760" y="29718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ACC"/>
                </a:solidFill>
              </a:rPr>
              <a:t>Upgrade ARIMA to Facebook Prophet or LSTM for better forecast accuracy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92040" y="3374136"/>
            <a:ext cx="3931920" cy="365760"/>
          </a:xfrm>
          <a:prstGeom prst="rect">
            <a:avLst/>
          </a:prstGeom>
          <a:solidFill>
            <a:srgbClr val="1B2E45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34015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</a:rPr>
              <a:t>Salary model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80760" y="34015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ACC"/>
                </a:solidFill>
              </a:rPr>
              <a:t>Train a regression model to predict hourly rate from title + skills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92040" y="3803904"/>
            <a:ext cx="3931920" cy="365760"/>
          </a:xfrm>
          <a:prstGeom prst="rect">
            <a:avLst/>
          </a:prstGeom>
          <a:solidFill>
            <a:srgbClr val="1B2E45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383133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</a:rPr>
              <a:t>Real-time feed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080760" y="383133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ACC"/>
                </a:solidFill>
              </a:rPr>
              <a:t>Connect Upwork API for live job ingestion and auto-refresh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92040" y="4233672"/>
            <a:ext cx="3931920" cy="365760"/>
          </a:xfrm>
          <a:prstGeom prst="rect">
            <a:avLst/>
          </a:prstGeom>
          <a:solidFill>
            <a:srgbClr val="1B2E45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10912" y="426110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</a:rPr>
              <a:t>User profiles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080760" y="426110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ACC"/>
                </a:solidFill>
              </a:rPr>
              <a:t>Store user preferences for personalised recurring recommendations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77316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Data Source: Upwork Job Postings  ·  Stack: Python · pandas · statsmodels · scikit-learn · Streamlit  ·  Period: Feb – Mar 2024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1215</Words>
  <Application>Microsoft Office PowerPoint</Application>
  <PresentationFormat>On-screen Show (16:9)</PresentationFormat>
  <Paragraphs>289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Market Analysis — Upwork Dataset</dc:title>
  <dc:subject>PptxGenJS Presentation</dc:subject>
  <dc:creator>PptxGenJS</dc:creator>
  <cp:lastModifiedBy>Windows User</cp:lastModifiedBy>
  <cp:revision>2</cp:revision>
  <dcterms:created xsi:type="dcterms:W3CDTF">2026-04-20T22:01:11Z</dcterms:created>
  <dcterms:modified xsi:type="dcterms:W3CDTF">2026-04-21T05:17:33Z</dcterms:modified>
</cp:coreProperties>
</file>