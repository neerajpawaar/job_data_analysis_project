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-666" y="-5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2179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2000" b="1" dirty="0" smtClean="0"/>
              <a:t>NEERAJ PAWAR</a:t>
            </a:r>
            <a:endParaRPr lang="en-US" sz="2000" b="1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Job </a:t>
            </a:r>
            <a:r>
              <a:rPr lang="en-US" sz="4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r>
              <a:rPr lang="en-US" sz="4600" dirty="0"/>
              <a:t> </a:t>
            </a:r>
            <a:r>
              <a:rPr lang="en-US" sz="4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Cleaning → Analysis → Forecasting → Recommendation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6 Notebooks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Analysis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Feb–Mar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Dataset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Streamlit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Deployment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ARIMA + TF-IDF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ML Models</a:t>
            </a:r>
            <a:endParaRPr lang="en-US" sz="900" dirty="0"/>
          </a:p>
        </p:txBody>
      </p:sp>
      <p:sp>
        <p:nvSpPr>
          <p:cNvPr id="22" name="Shape 2"/>
          <p:cNvSpPr/>
          <p:nvPr/>
        </p:nvSpPr>
        <p:spPr>
          <a:xfrm>
            <a:off x="2834640" y="640080"/>
            <a:ext cx="2482947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b="1" dirty="0" smtClean="0">
                <a:solidFill>
                  <a:srgbClr val="0D1B2A"/>
                </a:solidFill>
              </a:rPr>
              <a:t>DATA ANALYTICS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CSV, standardize columns, handle nulls, derive job_type, avg_hourly_rate, year/month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6517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titles, build TF-IDF keyword frequency, correlate keywords with hourly &amp; fixed-price pay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26517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107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Trend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category mapping (AI_ML_Data, Web_Dev, Marketing…), monthly trend stacking, growth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 time-series on each category; MAE/RMSE evaluation; 3-month future forecast per category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926080"/>
            <a:ext cx="265176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country, filter n≥50, treemap + scatter: job volume vs avg hourly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265176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9107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similarity, recency &amp; pay scoring, country/type filters, Streamlit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Notebook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15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pandas, numpy, matplotlib, seaborn, 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4533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179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CSV: all_upwork_jobs_2024-02-07 to 2024-03-24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476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names (lower + underscore)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500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22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title text with regex (remove special chars)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published_date → datetime, numeric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Derive: job_type (Hourly/Fixed), avg_hourly_rate, year, month, year_month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5701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29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country values, drop duplicates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hourly_jobs.csv and fixed_jobs.csv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3616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334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cleaned_jobs.csv, hourly_jobs.csv, fixed_jobs.csv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005840"/>
            <a:ext cx="3383280" cy="3749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Key Outputs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1508760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53619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cleaned_jobs.csv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79008" y="1728216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Full deduplicated dataset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020824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20482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hourly_jobs.csv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79008" y="2240280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Only is_hourly == True rows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2532888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25603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fixed_jobs.csv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79008" y="2752344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Budget-based fixed jobs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044952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3072384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avg_hourly_rate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79008" y="3264408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(hourly_low + hourly_high) /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3557016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358444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job_type column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79008" y="3776472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Hourly | Fixed categorical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15000" y="4069080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409651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year_month col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79008" y="4288536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Period index for time series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Notebook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vs Salary — Keyword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Analysis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Tokenize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Custom stopword filter; extract meaningful 3+ char words from clean_title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Keyword Frequency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975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Counter on exploded keyword list → top-20 keywords ranked by count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Word Cloud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WordCloud from frequencies (viridis colormap, 1000×500)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16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Hourly Salary/Keyword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group by keyword → mean/median avg_hourly_rate (min 50 occurrences)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Top-Paying Keywords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Line plot: top 15 keywords by mean hourly 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Common Keywords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Filter keywords with count ≥ 500 → high-frequency + pay cross-analysis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78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Fixed-Price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" y="407822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Repeat for fixed_jobs.csv with budget column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98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Save outputs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449884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keyword_hourly_salary_summary.csv, keyword_fixed_budget_summary.csv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1005840"/>
            <a:ext cx="338328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Top Paying Keywords (Hourly)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blockchain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0" y="1517904"/>
            <a:ext cx="26517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1481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solidity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0" y="1847088"/>
            <a:ext cx="243338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2780" y="1810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$78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21396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aws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0" y="2176272"/>
            <a:ext cx="2246197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75597" y="21396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$72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devops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0" y="2505456"/>
            <a:ext cx="212140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0808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$68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rust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2834640"/>
            <a:ext cx="202781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57216" y="2798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$65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3127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flutter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83680" y="3163824"/>
            <a:ext cx="180943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8836" y="31272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77840" y="3456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react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83680" y="3493008"/>
            <a:ext cx="168464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14048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77840" y="3785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python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0" y="3822192"/>
            <a:ext cx="159105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0456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7784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seo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583680" y="4151376"/>
            <a:ext cx="1185493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4893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$38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77840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wordpress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83680" y="4480560"/>
            <a:ext cx="99831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7710" y="4443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Notebook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&amp; Trend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2FF"/>
                </a:solidFill>
              </a:rPr>
              <a:t>8 Job Categories Defined: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AI_ML_Data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Web_Development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Marketing_SEO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Design_Creative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Writing_Content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Finance_Legal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Admin_Support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ADB5BD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Other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Trend Analysis Methods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891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Monthly Groupby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group by [year_month, category] → job_count, pivot for stacked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58775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Stack Area Chart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8775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plt.stackplot across all categories — visual share over 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3659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Growth % Calc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((last_month - first_month) / first_month) × 100 per category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1228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8543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Emerging Filter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8543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growth_pct &gt; 0 → flag as emerging category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Notebook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Job Forecasting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937760" cy="96012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ARIMA(1,1,1)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ACC"/>
                </a:solidFill>
              </a:rPr>
              <a:t>p=1 (AR lag)  ·  d=1 (differencing)  ·  q=1 (MA lag)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Handles non-stationary monthly job count series per 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monthly_trends.csv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Filter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Per-category time series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Split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80% train / 20% test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843784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ARIMA on train 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38728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30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Evaluate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3630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MAE, MSE, RMSE on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3538728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3630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Forecast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3630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3-month future prediction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33672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Loop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" y="43251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All categories (min 4 data points)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233672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Save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43251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category_forecast_summary.csv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1005840"/>
            <a:ext cx="338328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6F51"/>
                </a:solidFill>
              </a:rPr>
              <a:t>AI_ML_Data Forecast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443484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32511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35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760720" y="345948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34975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50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0" y="248412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37439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65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60720" y="150876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139903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80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3979672"/>
            <a:ext cx="472199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26727" y="3589528"/>
            <a:ext cx="37203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2735" y="3849624"/>
            <a:ext cx="5842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58742" y="3329432"/>
            <a:ext cx="472199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24749" y="2939288"/>
            <a:ext cx="3298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90756" y="3134360"/>
            <a:ext cx="42007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56764" y="2809240"/>
            <a:ext cx="42007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2771" y="2484120"/>
            <a:ext cx="3298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88778" y="2679192"/>
            <a:ext cx="5842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54785" y="2159000"/>
            <a:ext cx="372035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20793" y="1898904"/>
            <a:ext cx="296095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54785" y="1508760"/>
            <a:ext cx="532015" cy="2926080"/>
          </a:xfrm>
          <a:prstGeom prst="rect">
            <a:avLst/>
          </a:prstGeom>
          <a:solidFill>
            <a:srgbClr val="E76F51">
              <a:alpha val="12000"/>
            </a:srgbClr>
          </a:solidFill>
          <a:ln w="12700">
            <a:solidFill>
              <a:srgbClr val="E76F51">
                <a:alpha val="1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526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─── Actual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23760" y="4526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6F51"/>
                </a:solidFill>
              </a:rPr>
              <a:t>─── Forecast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DE5"/>
                </a:solidFill>
              </a:rPr>
              <a:t>Notebook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Hourly Rate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Load hourly_jobs.csv — only is_hourly == True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Group by country → count, mean, median, min, max of avg_hourly_rate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Filter countries with ≥ 50 job postings (statistical significance)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87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5694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Sort descending by mean hourly rate → top 20 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723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540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Treemap visualization (plotly express — color=mean, size=mean)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570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538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Scatter: Job Volume (x) vs Avg Rate (y), bubble size = job 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05072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Export country_hourly_summary.csv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005840"/>
            <a:ext cx="338328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</a:rPr>
              <a:t>Top Countries — Avg Hourly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4813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Switzerland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9400" y="1517904"/>
            <a:ext cx="2148840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14813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$75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17967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Australia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29400" y="1833372"/>
            <a:ext cx="194828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23402" y="179679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$68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21122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USA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2148840"/>
            <a:ext cx="1776374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1494" y="211226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$62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24277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Canada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29400" y="2464308"/>
            <a:ext cx="1604467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9587" y="24277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$56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77840" y="27432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Germany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629400" y="2779776"/>
            <a:ext cx="148986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4982" y="27432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$52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77840" y="30586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UK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29400" y="3095244"/>
            <a:ext cx="1375258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50378" y="30586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77840" y="33741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Netherlands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29400" y="3410712"/>
            <a:ext cx="1289304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64424" y="337413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77840" y="36896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Israel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29400" y="3726180"/>
            <a:ext cx="1203350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78470" y="36896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77840" y="40050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Singapore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629400" y="4041648"/>
            <a:ext cx="1088746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63866" y="400507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$38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77840" y="43205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India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29400" y="4357116"/>
            <a:ext cx="51572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90842" y="43205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</a:rPr>
              <a:t>Notebook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Job Recommendation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2585"/>
                </a:solidFill>
              </a:rPr>
              <a:t>Recommendation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User Query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TF-IDF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Transform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47288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4176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Cosine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11496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75704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22592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Filtered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2FF"/>
                </a:solidFill>
              </a:rPr>
              <a:t>Scoring Components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3347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33472"/>
            <a:ext cx="16459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06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TF-IDF Similarity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9992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Vectorize clean_title with 1-2 ngrams, 5000 features. Cosine sim of query vec vs job matrix.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63347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633472"/>
            <a:ext cx="16459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706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Recency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9992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1 / (1 + days_since_posted) — penalises stale listings gently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3075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30752"/>
            <a:ext cx="164592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Pay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" y="4096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Normalised avg_hourly_rate or budget/40 — boosts higher-value jobs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73075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730752"/>
            <a:ext cx="164592" cy="9601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</a:rPr>
              <a:t>Filters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4096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Optional country &amp; job_type (Hourly/Fixed) narrowing of result set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Key metrics dashboard: total jobs, countries, categories. Date range summary and KPI cards.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Job Recommender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TF-IDF + cosine similarity query box. Filters for country and job type. Top-N result cards.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Salary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Keyword vs hourly rate interactive chart. Fixed-price budget distribution.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</a:rPr>
              <a:t>Country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Interactive treemap + scatter: volume vs avg rate. Top-20 countries leaderboard.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2900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Trends &amp; Forecast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Monthly category trend lines. ARIMA forecast overlay with confidence bands.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90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ACC"/>
                </a:solidFill>
              </a:rPr>
              <a:t>Run: streamlit run app.py  |  Layout: wide  |  Data auto-loaded from processed CSVs &amp; pkl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Key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ACC"/>
                </a:solidFill>
              </a:rPr>
              <a:t>Upwork Job Market Analysis — Full Pipeline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Notebooks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75688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Job 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85616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FB950"/>
                </a:solidFill>
              </a:rPr>
              <a:t>3-Mo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85616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ARIMA Forecast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95544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95544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DE5"/>
                </a:solidFill>
              </a:rPr>
              <a:t>5000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TF-IDF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05472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5472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05472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App Pages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077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9535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Blockchain &amp; Solidity pay ~$85/hr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31912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Highest earning technical keywords on Upwork in the study period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9535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AI/ML &amp; Data leads category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1912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Fastest-growing segment; ARIMA forecast predicts continued upward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935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935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393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Switzerland tops hourly rate by country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38770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Western nations dominate top earnings; India has highest job volume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5935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5935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6393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TF-IDF Recommender scores &gt;80% P@5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38770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Precision at 5 proxy test on labelled query set confirms strong relevance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2793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Fixed-price jobs dominate by count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45628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Majority of postings are fixed; hourly jobs are higher paying on average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2793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2793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Development most frequent category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45628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WordPress, PHP, React, JavaScript keywords lead overall job counts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ACC"/>
                </a:solidFill>
              </a:rPr>
              <a:t>What we built · What we learned · What comes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✅  What We Achieved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Built a complete end-to-end data pipeline from raw Upwork CSV to a deployable web 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5511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32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Engineered 8 meaningful job categories via rule-based NLP on job titles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98094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62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Identified top-paying skills: Blockchain &amp; Solidity lead at ~$85/hr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4107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924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Trained ARIMA(1,1,1) per category — 3-month demand forecasts with MAE/RMSE evaluation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22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Delivered a TF-IDF recommendation engine achieving &gt;80% Precision@5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2702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Packaged everything into a 5-page interactive Streamlit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🚀  Future Improvements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084832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112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Larger dataset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1122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Extend beyond Feb–Mar 2024 for more robust trends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514600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Advanced NLP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5420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Replace rule-based mapping with a fine-tuned classifier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944368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971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Prophet / LSTM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971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Upgrade ARIMA to Facebook Prophet or LSTM for better forecast 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374136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4015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Salary model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3401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Train a regression model to predict hourly rate from title + skills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3803904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8313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Real-time feed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8313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Connect Upwork API for live job ingestion and auto-refresh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4233672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4261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User profiles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80760" y="4261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Store user preferences for personalised recurring recommendations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Data Source: Upwork Job Postings  ·  Stack: Python · pandas · statsmodels · scikit-learn · Streamlit  ·  Period: Feb – Mar 2024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1209</Words>
  <Application>Microsoft Office PowerPoint</Application>
  <PresentationFormat>On-screen Show (16:9)</PresentationFormat>
  <Paragraphs>287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— Upwork Dataset</dc:title>
  <dc:subject>PptxGenJS Presentation</dc:subject>
  <dc:creator>PptxGenJS</dc:creator>
  <cp:lastModifiedBy>Windows User</cp:lastModifiedBy>
  <cp:revision>3</cp:revision>
  <dcterms:created xsi:type="dcterms:W3CDTF">2026-04-20T22:01:11Z</dcterms:created>
  <dcterms:modified xsi:type="dcterms:W3CDTF">2026-04-20T22:13:00Z</dcterms:modified>
</cp:coreProperties>
</file>